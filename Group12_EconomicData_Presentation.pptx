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Raleway Medium"/>
      <p:regular r:id="rId15"/>
    </p:embeddedFont>
    <p:embeddedFont>
      <p:font typeface="Raleway Semi-Bold"/>
      <p:bold r:id="rId16"/>
    </p:embeddedFont>
    <p:embeddedFont>
      <p:font typeface="Raleway Bold"/>
      <p:bold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923791" y="-783256"/>
            <a:ext cx="11853512" cy="11853512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19200" y="2020405"/>
            <a:ext cx="8115300" cy="236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945"/>
              </a:lnSpc>
            </a:pPr>
            <a:r>
              <a:rPr lang="en-US" sz="9940" b="1" spc="-457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Resilience and Reform: </a:t>
            </a:r>
            <a:endParaRPr lang="en-US" sz="9940" b="1" spc="-457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19200" y="4542289"/>
            <a:ext cx="8768666" cy="207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810"/>
              </a:lnSpc>
            </a:pPr>
            <a:r>
              <a:rPr lang="en-US" sz="8675" b="1" spc="-3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India’s 60-Year Economic Journey</a:t>
            </a:r>
            <a:endParaRPr lang="en-US" sz="8675" b="1" spc="-399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19200" y="1104900"/>
            <a:ext cx="9179504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spc="-138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Presented by </a:t>
            </a:r>
            <a:r>
              <a:rPr lang="en-IN" altLang="en-US" sz="3000" b="1" spc="-138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DataDesh</a:t>
            </a:r>
            <a:endParaRPr lang="en-IN" altLang="en-US" sz="3000" b="1" spc="-138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43000" y="7505836"/>
            <a:ext cx="8115300" cy="218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3115" b="1" spc="-143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Members- </a:t>
            </a:r>
            <a:endParaRPr lang="en-US" sz="3115" b="1" spc="-143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2805"/>
              </a:lnSpc>
            </a:pPr>
            <a:r>
              <a:rPr lang="en-US" sz="3115" b="1" spc="-143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Debasmita Praharaj (Team Leader/Presenter)</a:t>
            </a:r>
            <a:endParaRPr lang="en-US" sz="3115" b="1" spc="-143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2805"/>
              </a:lnSpc>
            </a:pPr>
            <a:r>
              <a:rPr lang="en-US" sz="3115" b="1" spc="-143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Goldy Pattanayak (Data Developer)</a:t>
            </a:r>
            <a:endParaRPr lang="en-US" sz="3115" b="1" spc="-143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2805"/>
              </a:lnSpc>
            </a:pPr>
            <a:r>
              <a:rPr lang="en-US" sz="3115" b="1" spc="-143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Mitali Madhusmita (Data Analyst)</a:t>
            </a:r>
            <a:endParaRPr lang="en-US" sz="3115" b="1" spc="-143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2805"/>
              </a:lnSpc>
            </a:pPr>
            <a:r>
              <a:rPr lang="en-US" sz="3115" b="1" spc="-143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Sanchita Panda (Researcher)</a:t>
            </a:r>
            <a:endParaRPr lang="en-US" sz="3115" b="1" spc="-143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1" indent="0" algn="l">
              <a:lnSpc>
                <a:spcPts val="2805"/>
              </a:lnSpc>
            </a:pPr>
            <a:r>
              <a:rPr lang="en-US" sz="3115" b="1" spc="-143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Abhijeet Barik (Visualiser)</a:t>
            </a:r>
            <a:endParaRPr lang="en-US" sz="3115" b="1" spc="-143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8" name="Picture 7" descr="PPT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868045"/>
            <a:ext cx="6858000" cy="8736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247775"/>
            <a:ext cx="6095270" cy="183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sz="7725" b="1" spc="-355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Objective:</a:t>
            </a:r>
            <a:endParaRPr lang="en-US" sz="7725" b="1" spc="-355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1" indent="0" algn="l">
              <a:lnSpc>
                <a:spcPts val="6950"/>
              </a:lnSpc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516890" y="2506980"/>
            <a:ext cx="16863695" cy="66636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821055" lvl="1" indent="-410845" algn="l">
              <a:lnSpc>
                <a:spcPts val="532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805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1991- LPG Ref</a:t>
            </a:r>
            <a:r>
              <a:rPr lang="en-US" sz="3805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orms </a:t>
            </a:r>
            <a:endParaRPr lang="en-US" sz="380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410210" lvl="1" indent="0" algn="l">
              <a:lnSpc>
                <a:spcPts val="5325"/>
              </a:lnSpc>
              <a:spcBef>
                <a:spcPct val="0"/>
              </a:spcBef>
              <a:buFont typeface="Arial" panose="020B0604020202020204"/>
              <a:buNone/>
            </a:pPr>
            <a:endParaRPr lang="en-US" sz="380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821055" lvl="1" indent="-410845" algn="l">
              <a:lnSpc>
                <a:spcPts val="532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805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2008-Global financial crisis &amp; India's response </a:t>
            </a:r>
            <a:endParaRPr lang="en-US" sz="380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821055" lvl="1" indent="-410845" algn="l">
              <a:lnSpc>
                <a:spcPts val="5325"/>
              </a:lnSpc>
              <a:spcBef>
                <a:spcPct val="0"/>
              </a:spcBef>
              <a:buFont typeface="Arial" panose="020B0604020202020204"/>
              <a:buChar char="•"/>
            </a:pPr>
            <a:endParaRPr lang="en-US" sz="380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821055" lvl="1" indent="-410845" algn="l">
              <a:lnSpc>
                <a:spcPts val="532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805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2016-Demonetization &amp; digital economy push </a:t>
            </a:r>
            <a:endParaRPr lang="en-US" sz="380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821055" lvl="1" indent="-410845" algn="l">
              <a:lnSpc>
                <a:spcPts val="5325"/>
              </a:lnSpc>
              <a:spcBef>
                <a:spcPct val="0"/>
              </a:spcBef>
              <a:buFont typeface="Arial" panose="020B0604020202020204"/>
              <a:buChar char="•"/>
            </a:pPr>
            <a:endParaRPr lang="en-US" sz="380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821055" lvl="1" indent="-410845" algn="l">
              <a:lnSpc>
                <a:spcPts val="532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805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2017-GST Implementation </a:t>
            </a:r>
            <a:endParaRPr lang="en-US" sz="380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821055" lvl="1" indent="-410845" algn="l">
              <a:lnSpc>
                <a:spcPts val="5325"/>
              </a:lnSpc>
              <a:spcBef>
                <a:spcPct val="0"/>
              </a:spcBef>
              <a:buFont typeface="Arial" panose="020B0604020202020204"/>
              <a:buChar char="•"/>
            </a:pPr>
            <a:endParaRPr lang="en-US" sz="380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821055" lvl="1" indent="-410845" algn="l">
              <a:lnSpc>
                <a:spcPts val="532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805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2020-COVID-19 Pandemic &amp; Atmanirbhar Bharat comparison of India's GDP with China</a:t>
            </a:r>
            <a:endParaRPr lang="en-US" sz="380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703997"/>
            <a:ext cx="11737998" cy="99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215"/>
              </a:lnSpc>
            </a:pPr>
            <a:r>
              <a:rPr lang="en-US" sz="8015" b="1" spc="-368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Key Highlights (KPI Cards)</a:t>
            </a:r>
            <a:endParaRPr lang="en-US" sz="8015" b="1" spc="-368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3728403"/>
            <a:ext cx="9138146" cy="5062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4530" lvl="1" indent="-342265" algn="l">
              <a:lnSpc>
                <a:spcPts val="44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17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GDP</a:t>
            </a:r>
            <a:r>
              <a:rPr lang="en-US" sz="317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per Capita: ₹50.01K</a:t>
            </a:r>
            <a:endParaRPr lang="en-US" sz="3170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684530" lvl="1" indent="-342265" algn="l">
              <a:lnSpc>
                <a:spcPts val="44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17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CAGR: 7.57%</a:t>
            </a:r>
            <a:endParaRPr lang="en-US" sz="3170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684530" lvl="1" indent="-342265" algn="l">
              <a:lnSpc>
                <a:spcPts val="44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17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Avg Growth (India): 5.06% | China: 8.27%</a:t>
            </a:r>
            <a:endParaRPr lang="en-US" sz="3170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684530" lvl="1" indent="-342265" algn="l">
              <a:lnSpc>
                <a:spcPts val="44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17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Growth Gap: 3.21%</a:t>
            </a:r>
            <a:endParaRPr lang="en-US" sz="3170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4440"/>
              </a:lnSpc>
              <a:spcBef>
                <a:spcPct val="0"/>
              </a:spcBef>
            </a:pPr>
          </a:p>
          <a:p>
            <a:pPr algn="l">
              <a:lnSpc>
                <a:spcPts val="4440"/>
              </a:lnSpc>
              <a:spcBef>
                <a:spcPct val="0"/>
              </a:spcBef>
            </a:pPr>
            <a:r>
              <a:rPr lang="en-US" sz="317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</a:t>
            </a:r>
            <a:r>
              <a:rPr lang="en-US" sz="317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India’s steady long-term expansion shows resilience, supported by diversification in services and digital innovation.</a:t>
            </a:r>
            <a:endParaRPr lang="en-US" sz="3170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4440"/>
              </a:lnSpc>
              <a:spcBef>
                <a:spcPct val="0"/>
              </a:spcBef>
            </a:pPr>
          </a:p>
        </p:txBody>
      </p:sp>
      <p:pic>
        <p:nvPicPr>
          <p:cNvPr id="5" name="Picture 4" descr="Dashboard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655" y="2514600"/>
            <a:ext cx="8549640" cy="5939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03621" y="3612836"/>
            <a:ext cx="13515640" cy="450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0" lvl="1" indent="-474980" algn="ctr">
              <a:lnSpc>
                <a:spcPts val="3960"/>
              </a:lnSpc>
              <a:buFont typeface="Arial" panose="020B0604020202020204"/>
              <a:buChar char="•"/>
            </a:pP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GDP grew steadily till 1991, then surged post-liberalization.</a:t>
            </a:r>
            <a:endParaRPr lang="en-US" sz="4400" b="1" spc="-202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ctr">
              <a:lnSpc>
                <a:spcPts val="3960"/>
              </a:lnSpc>
            </a:pPr>
          </a:p>
          <a:p>
            <a:pPr marL="949960" lvl="1" indent="-474980" algn="ctr">
              <a:lnSpc>
                <a:spcPts val="3960"/>
              </a:lnSpc>
              <a:buFont typeface="Arial" panose="020B0604020202020204"/>
              <a:buChar char="•"/>
            </a:pP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Dips in 2008 (global crisis) and 2020 (COVID-19) show external impacts.</a:t>
            </a:r>
            <a:endParaRPr lang="en-US" sz="4400" b="1" spc="-202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ctr">
              <a:lnSpc>
                <a:spcPts val="3960"/>
              </a:lnSpc>
            </a:pPr>
          </a:p>
          <a:p>
            <a:pPr marL="949960" lvl="1" indent="-474980" algn="ctr">
              <a:lnSpc>
                <a:spcPts val="3960"/>
              </a:lnSpc>
              <a:buFont typeface="Arial" panose="020B0604020202020204"/>
              <a:buChar char="•"/>
            </a:pP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Despite shocks, India rebounded quickly, driven by strong domestic demand.</a:t>
            </a:r>
            <a:endParaRPr lang="en-US" sz="4400" b="1" spc="-202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1" indent="0" algn="ctr">
              <a:lnSpc>
                <a:spcPts val="396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1957634" y="1228725"/>
            <a:ext cx="14372732" cy="96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920"/>
              </a:lnSpc>
            </a:pPr>
            <a:r>
              <a:rPr lang="en-US" sz="7690" b="1" spc="-353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Long-Term Trend (1960–2021)</a:t>
            </a:r>
            <a:endParaRPr lang="en-US" sz="7690" b="1" spc="-353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29167" y="1495754"/>
            <a:ext cx="8948340" cy="85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170"/>
              </a:lnSpc>
            </a:pPr>
            <a:r>
              <a:rPr lang="en-US" sz="6855" b="1" spc="-315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Key Economic Events</a:t>
            </a:r>
            <a:endParaRPr lang="en-US" sz="6855" b="1" spc="-315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914400" y="3009900"/>
          <a:ext cx="15561310" cy="6499860"/>
        </p:xfrm>
        <a:graphic>
          <a:graphicData uri="http://schemas.openxmlformats.org/drawingml/2006/table">
            <a:tbl>
              <a:tblPr/>
              <a:tblGrid>
                <a:gridCol w="2416175"/>
                <a:gridCol w="6531610"/>
                <a:gridCol w="6613525"/>
              </a:tblGrid>
              <a:tr h="1083310">
                <a:tc>
                  <a:txBody>
                    <a:bodyPr/>
                    <a:p>
                      <a:r>
                        <a:rPr sz="3200" i="1">
                          <a:solidFill>
                            <a:srgbClr val="00CC99"/>
                          </a:solidFill>
                        </a:rPr>
                        <a:t>Year</a:t>
                      </a:r>
                      <a:endParaRPr sz="3200" i="1">
                        <a:solidFill>
                          <a:srgbClr val="00CC99"/>
                        </a:solidFill>
                      </a:endParaRPr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3200" i="1">
                          <a:solidFill>
                            <a:srgbClr val="00CC99"/>
                          </a:solidFill>
                        </a:rPr>
                        <a:t>Event</a:t>
                      </a:r>
                      <a:endParaRPr sz="3200" i="1">
                        <a:solidFill>
                          <a:srgbClr val="00CC99"/>
                        </a:solidFill>
                      </a:endParaRPr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3200" i="1">
                          <a:solidFill>
                            <a:srgbClr val="00CC99"/>
                          </a:solidFill>
                        </a:rPr>
                        <a:t>Impact</a:t>
                      </a:r>
                      <a:endParaRPr sz="3200" i="1">
                        <a:solidFill>
                          <a:srgbClr val="00CC99"/>
                        </a:solidFill>
                      </a:endParaRPr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310">
                <a:tc>
                  <a:txBody>
                    <a:bodyPr/>
                    <a:p>
                      <a:r>
                        <a:rPr sz="3200" i="1"/>
                        <a:t>1991</a:t>
                      </a:r>
                      <a:endParaRPr sz="3200" i="1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LPG Reforms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Market liberalization, FDI inflow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083310">
                <a:tc>
                  <a:txBody>
                    <a:bodyPr/>
                    <a:p>
                      <a:r>
                        <a:rPr sz="3200" i="1"/>
                        <a:t>2008</a:t>
                      </a:r>
                      <a:endParaRPr sz="3200" i="1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Global Financial Crisis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Temporary slowdown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310">
                <a:tc>
                  <a:txBody>
                    <a:bodyPr/>
                    <a:p>
                      <a:r>
                        <a:rPr sz="3200" i="1"/>
                        <a:t>2016</a:t>
                      </a:r>
                      <a:endParaRPr sz="3200" i="1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Demonetization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Push for digital economy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083310">
                <a:tc>
                  <a:txBody>
                    <a:bodyPr/>
                    <a:p>
                      <a:r>
                        <a:rPr sz="3200" i="1"/>
                        <a:t>2017</a:t>
                      </a:r>
                      <a:endParaRPr sz="3200" i="1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GST Launch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Simplified tax regime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310">
                <a:tc>
                  <a:txBody>
                    <a:bodyPr/>
                    <a:p>
                      <a:r>
                        <a:rPr sz="3200" i="1"/>
                        <a:t>2020</a:t>
                      </a:r>
                      <a:endParaRPr sz="3200" i="1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COVID-19 &amp; Atmanirbhar Bharat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r>
                        <a:rPr sz="3200"/>
                        <a:t>Economic resilience efforts</a:t>
                      </a:r>
                      <a:endParaRPr sz="3200"/>
                    </a:p>
                  </a:txBody>
                  <a:tcPr marL="0" marR="0" marT="0" marB="0" anchor="ctr" anchorCtr="0">
                    <a:lnL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16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57634" y="3397322"/>
            <a:ext cx="13515640" cy="400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0" lvl="1" indent="-474980" algn="ctr">
              <a:lnSpc>
                <a:spcPts val="3960"/>
              </a:lnSpc>
              <a:buFont typeface="Arial" panose="020B0604020202020204"/>
              <a:buChar char="•"/>
            </a:pP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China outpaced India post-1980s via industrialization.</a:t>
            </a:r>
            <a:endParaRPr lang="en-US" sz="4400" b="1" spc="-202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ctr">
              <a:lnSpc>
                <a:spcPts val="3960"/>
              </a:lnSpc>
            </a:pPr>
          </a:p>
          <a:p>
            <a:pPr marL="949960" lvl="1" indent="-474980" algn="ctr">
              <a:lnSpc>
                <a:spcPts val="3960"/>
              </a:lnSpc>
              <a:buFont typeface="Arial" panose="020B0604020202020204"/>
              <a:buChar char="•"/>
            </a:pP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Ind</a:t>
            </a: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ia caught up through IT &amp; service-led growth post-2000s.</a:t>
            </a:r>
            <a:endParaRPr lang="en-US" sz="4400" b="1" spc="-202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960"/>
              </a:lnSpc>
            </a:pP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Gap narrowing as India focuses on innovation, digital infrastructure, and global services.</a:t>
            </a:r>
            <a:endParaRPr lang="en-US" sz="4400" b="1" spc="-202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1" indent="0" algn="ctr">
              <a:lnSpc>
                <a:spcPts val="396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1957634" y="1228725"/>
            <a:ext cx="14372732" cy="96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920"/>
              </a:lnSpc>
            </a:pPr>
            <a:r>
              <a:rPr lang="en-US" sz="7690" b="1" spc="-353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India vs China</a:t>
            </a:r>
            <a:endParaRPr lang="en-US" sz="7690" b="1" spc="-353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57634" y="3397322"/>
            <a:ext cx="14372732" cy="400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0" lvl="1" indent="-474980" algn="ctr">
              <a:lnSpc>
                <a:spcPts val="3960"/>
              </a:lnSpc>
              <a:buFont typeface="Arial" panose="020B0604020202020204"/>
              <a:buChar char="•"/>
            </a:pP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GDP per capita shows strong post-2010 acceleration.</a:t>
            </a:r>
            <a:endParaRPr lang="en-US" sz="4400" b="1" spc="-202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ctr">
              <a:lnSpc>
                <a:spcPts val="3960"/>
              </a:lnSpc>
            </a:pPr>
          </a:p>
          <a:p>
            <a:pPr marL="949960" lvl="1" indent="-474980" algn="ctr">
              <a:lnSpc>
                <a:spcPts val="3960"/>
              </a:lnSpc>
              <a:buFont typeface="Arial" panose="020B0604020202020204"/>
              <a:buChar char="•"/>
            </a:pP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Growth r</a:t>
            </a: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ate fluctuates but trends upward long-term.</a:t>
            </a:r>
            <a:endParaRPr lang="en-US" sz="4400" b="1" spc="-202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960"/>
              </a:lnSpc>
            </a:pP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</a:t>
            </a:r>
            <a:r>
              <a:rPr lang="en-US" sz="4400" b="1" spc="-202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proved living standards and productivity gains reflect inclusive development.</a:t>
            </a:r>
            <a:endParaRPr lang="en-US" sz="4400" b="1" spc="-202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1" indent="0" algn="ctr">
              <a:lnSpc>
                <a:spcPts val="396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1957634" y="1228725"/>
            <a:ext cx="14372732" cy="96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920"/>
              </a:lnSpc>
            </a:pPr>
            <a:r>
              <a:rPr lang="en-US" sz="7690" b="1" spc="-353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GDP per Capita &amp; Growth Rate</a:t>
            </a:r>
            <a:endParaRPr lang="en-US" sz="7690" b="1" spc="-353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05912"/>
            <a:ext cx="7811763" cy="745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460"/>
              </a:lnSpc>
            </a:pPr>
            <a:r>
              <a:rPr lang="en-US" sz="6070" b="1" spc="-27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Conclusion &amp; Insights</a:t>
            </a:r>
            <a:endParaRPr lang="en-US" sz="6070" b="1" spc="-279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43650" y="2389505"/>
            <a:ext cx="7708717" cy="5489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8200" lvl="1" indent="-419100" algn="l">
              <a:lnSpc>
                <a:spcPts val="543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88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I</a:t>
            </a:r>
            <a:r>
              <a:rPr lang="en-US" sz="388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ndia evolved from an agrarian to a diversified economy.</a:t>
            </a:r>
            <a:endParaRPr lang="en-US" sz="3880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838200" lvl="1" indent="-419100" algn="l">
              <a:lnSpc>
                <a:spcPts val="543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88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Crises triggered reforms and adaptability.</a:t>
            </a:r>
            <a:endParaRPr lang="en-US" sz="3880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838200" lvl="1" indent="-419100" algn="l">
              <a:lnSpc>
                <a:spcPts val="543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88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Story of resilience, reform, and reinvention.</a:t>
            </a:r>
            <a:endParaRPr lang="en-US" sz="3880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5435"/>
              </a:lnSpc>
              <a:spcBef>
                <a:spcPct val="0"/>
              </a:spcBef>
            </a:pPr>
          </a:p>
        </p:txBody>
      </p:sp>
      <p:sp>
        <p:nvSpPr>
          <p:cNvPr id="5" name="TextBox 5"/>
          <p:cNvSpPr txBox="1"/>
          <p:nvPr/>
        </p:nvSpPr>
        <p:spPr>
          <a:xfrm>
            <a:off x="1028700" y="7803143"/>
            <a:ext cx="15084500" cy="136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5"/>
              </a:lnSpc>
              <a:spcBef>
                <a:spcPct val="0"/>
              </a:spcBef>
            </a:pPr>
            <a:r>
              <a:rPr lang="en-US" sz="3965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</a:t>
            </a:r>
            <a:r>
              <a:rPr lang="en-US" sz="3965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ata visualization via Power BI brings six decades of growth into clear perspective.</a:t>
            </a:r>
            <a:endParaRPr lang="en-US" sz="3965" b="1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pic>
        <p:nvPicPr>
          <p:cNvPr id="6" name="Picture 5" descr="Dashboard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9950" y="266700"/>
            <a:ext cx="943229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923791" y="-783256"/>
            <a:ext cx="11853512" cy="11853512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19200" y="2646761"/>
            <a:ext cx="8144502" cy="5212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3330"/>
              </a:lnSpc>
            </a:pPr>
            <a:r>
              <a:rPr lang="en-US" sz="14810" b="1" spc="-68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Thank you very much!</a:t>
            </a:r>
            <a:endParaRPr lang="en-US" sz="14810" b="1" spc="-681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1430000" y="876300"/>
            <a:ext cx="6245225" cy="83534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225*511"/>
  <p:tag name="TABLE_ENDDRAG_RECT" val="72*237*1225*5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1897</Words>
  <Application>WPS Presentation</Application>
  <PresentationFormat>On-screen Show (4:3)</PresentationFormat>
  <Paragraphs>113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Raleway Medium</vt:lpstr>
      <vt:lpstr>Arial</vt:lpstr>
      <vt:lpstr>Raleway Semi-Bold</vt:lpstr>
      <vt:lpstr>Raleway 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Group 12</dc:title>
  <dc:creator/>
  <cp:lastModifiedBy>Debasmita Praharaj</cp:lastModifiedBy>
  <cp:revision>4</cp:revision>
  <dcterms:created xsi:type="dcterms:W3CDTF">2006-08-16T00:00:00Z</dcterms:created>
  <dcterms:modified xsi:type="dcterms:W3CDTF">2025-11-04T04:24:32Z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32E7DBC72FDE4BFB82E081B5B7F7C157_12</vt:lpwstr>
  </property>
  <property fmtid="{D5CDD505-2E9C-101B-9397-08002B2CF9AE}" pid="3" name="KSOProductBuildVer">
    <vt:lpwstr>1033-12.2.0.23155</vt:lpwstr>
  </property>
</Properties>
</file>